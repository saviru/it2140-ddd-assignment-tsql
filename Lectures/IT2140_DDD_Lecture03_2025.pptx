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323" r:id="rId4"/>
    <p:sldId id="324" r:id="rId5"/>
    <p:sldId id="305" r:id="rId6"/>
    <p:sldId id="306" r:id="rId7"/>
    <p:sldId id="307" r:id="rId8"/>
    <p:sldId id="28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D6970-6046-4FAA-B7EB-77443D0A5958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88F1E-16D5-4414-800A-D9EAF7852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9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Design and Development (it2140)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Lecture 03 – SQL Joins</a:t>
            </a:r>
          </a:p>
        </p:txBody>
      </p:sp>
    </p:spTree>
    <p:extLst>
      <p:ext uri="{BB962C8B-B14F-4D97-AF65-F5344CB8AC3E}">
        <p14:creationId xmlns:p14="http://schemas.microsoft.com/office/powerpoint/2010/main" val="191423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Lecture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Introduction to Joins</a:t>
            </a:r>
          </a:p>
          <a:p>
            <a:r>
              <a:rPr lang="en-US" sz="3200" dirty="0"/>
              <a:t>Inner Join</a:t>
            </a:r>
          </a:p>
          <a:p>
            <a:r>
              <a:rPr lang="en-US" sz="3200" dirty="0"/>
              <a:t>Outer Join (Left/Right)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980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Lecture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715956"/>
            <a:ext cx="11029615" cy="3678303"/>
          </a:xfrm>
        </p:spPr>
        <p:txBody>
          <a:bodyPr>
            <a:normAutofit/>
          </a:bodyPr>
          <a:lstStyle/>
          <a:p>
            <a:r>
              <a:rPr lang="en-US" sz="2800" dirty="0"/>
              <a:t>At the end of this lecture students should be able to</a:t>
            </a:r>
          </a:p>
          <a:p>
            <a:pPr lvl="1"/>
            <a:r>
              <a:rPr lang="en-US" sz="2600" dirty="0"/>
              <a:t>Write syntactically correct SQL join statements to combine and retrieve data from multiple tables in an RDBMS.</a:t>
            </a:r>
          </a:p>
        </p:txBody>
      </p:sp>
    </p:spTree>
    <p:extLst>
      <p:ext uri="{BB962C8B-B14F-4D97-AF65-F5344CB8AC3E}">
        <p14:creationId xmlns:p14="http://schemas.microsoft.com/office/powerpoint/2010/main" val="4182735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18577-89CC-FEED-C957-5B5EC3EB5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E1E84535-DA58-B5A3-D9E6-8B587804B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[Inner] Join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CEE92DCF-005A-7B59-0CDF-EF73D1F83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207" y="2041043"/>
            <a:ext cx="5806767" cy="4465773"/>
          </a:xfrm>
        </p:spPr>
        <p:txBody>
          <a:bodyPr>
            <a:normAutofit fontScale="62500" lnSpcReduction="20000"/>
          </a:bodyPr>
          <a:lstStyle/>
          <a:p>
            <a:pPr marL="306000" lvl="1">
              <a:defRPr/>
            </a:pPr>
            <a:r>
              <a:rPr lang="en-US" sz="3600" dirty="0"/>
              <a:t>Joins are used to combine data from two or more tables based on a related column (usually Primary Key–Foreign Key relationship).</a:t>
            </a:r>
          </a:p>
          <a:p>
            <a:pPr marL="306000" lvl="1">
              <a:defRPr/>
            </a:pPr>
            <a:r>
              <a:rPr lang="en-US" altLang="en-US" sz="2800" dirty="0"/>
              <a:t>Ex : </a:t>
            </a:r>
            <a:r>
              <a:rPr lang="en-US" sz="3200" dirty="0"/>
              <a:t>Find names of students and their program offerings.</a:t>
            </a:r>
            <a:endParaRPr lang="en-US" altLang="en-US" sz="2800" dirty="0"/>
          </a:p>
          <a:p>
            <a:pPr marL="0" lvl="1" indent="0">
              <a:buNone/>
              <a:defRPr/>
            </a:pPr>
            <a:r>
              <a:rPr lang="en-US" altLang="en-US" dirty="0"/>
              <a:t> </a:t>
            </a:r>
            <a:r>
              <a:rPr lang="en-US" altLang="en-US" sz="2900" dirty="0"/>
              <a:t>	Select </a:t>
            </a:r>
            <a:r>
              <a:rPr lang="en-US" altLang="en-US" sz="2900" dirty="0" err="1"/>
              <a:t>s.Name</a:t>
            </a:r>
            <a:r>
              <a:rPr lang="en-US" altLang="en-US" sz="2900" dirty="0"/>
              <a:t>, </a:t>
            </a:r>
            <a:r>
              <a:rPr lang="en-US" altLang="en-US" sz="2900" dirty="0" err="1"/>
              <a:t>p.OfferBy</a:t>
            </a:r>
            <a:endParaRPr lang="en-US" altLang="en-US" sz="2900" dirty="0"/>
          </a:p>
          <a:p>
            <a:pPr marL="0" lvl="1" indent="0">
              <a:buNone/>
              <a:defRPr/>
            </a:pPr>
            <a:r>
              <a:rPr lang="en-US" altLang="en-US" sz="2900" dirty="0"/>
              <a:t>	From Student s, Program p</a:t>
            </a:r>
          </a:p>
          <a:p>
            <a:pPr marL="0" lvl="1" indent="0">
              <a:buNone/>
              <a:defRPr/>
            </a:pPr>
            <a:r>
              <a:rPr lang="en-US" altLang="en-US" sz="2900" dirty="0"/>
              <a:t>	where </a:t>
            </a:r>
            <a:r>
              <a:rPr lang="en-US" altLang="en-US" sz="2900" dirty="0" err="1"/>
              <a:t>s.pid</a:t>
            </a:r>
            <a:r>
              <a:rPr lang="en-US" altLang="en-US" sz="2900" dirty="0"/>
              <a:t>=</a:t>
            </a:r>
            <a:r>
              <a:rPr lang="en-US" altLang="en-US" sz="2900" dirty="0" err="1"/>
              <a:t>p.progId</a:t>
            </a:r>
            <a:endParaRPr lang="en-US" altLang="en-US" sz="2900" dirty="0"/>
          </a:p>
          <a:p>
            <a:pPr marL="0" lvl="1" indent="0">
              <a:buNone/>
              <a:defRPr/>
            </a:pPr>
            <a:r>
              <a:rPr lang="en-US" altLang="en-US" sz="2900" dirty="0"/>
              <a:t>		   Or</a:t>
            </a:r>
          </a:p>
          <a:p>
            <a:pPr marL="0" lvl="1" indent="0">
              <a:buNone/>
              <a:defRPr/>
            </a:pPr>
            <a:r>
              <a:rPr lang="en-US" altLang="en-US" sz="2900" dirty="0"/>
              <a:t>	SELECT </a:t>
            </a:r>
            <a:r>
              <a:rPr lang="en-US" altLang="en-US" sz="2900" dirty="0" err="1"/>
              <a:t>s.Name</a:t>
            </a:r>
            <a:r>
              <a:rPr lang="en-US" altLang="en-US" sz="2900" dirty="0"/>
              <a:t>, </a:t>
            </a:r>
            <a:r>
              <a:rPr lang="en-US" altLang="en-US" sz="2900" dirty="0" err="1"/>
              <a:t>p.OfferBy</a:t>
            </a:r>
            <a:endParaRPr lang="en-US" altLang="en-US" sz="2900" dirty="0"/>
          </a:p>
          <a:p>
            <a:pPr marL="0" lvl="1" indent="0">
              <a:buNone/>
              <a:defRPr/>
            </a:pPr>
            <a:r>
              <a:rPr lang="en-US" altLang="en-US" sz="2900" dirty="0"/>
              <a:t>	FROM Student s INNER JOIN Program p </a:t>
            </a:r>
          </a:p>
          <a:p>
            <a:pPr marL="0" lvl="1" indent="0">
              <a:buNone/>
              <a:defRPr/>
            </a:pPr>
            <a:r>
              <a:rPr lang="en-US" altLang="en-US" sz="2900" dirty="0"/>
              <a:t>    		ON </a:t>
            </a:r>
            <a:r>
              <a:rPr lang="en-US" altLang="en-US" sz="2900" dirty="0" err="1"/>
              <a:t>s.pid</a:t>
            </a:r>
            <a:r>
              <a:rPr lang="en-US" altLang="en-US" sz="2900" dirty="0"/>
              <a:t> = </a:t>
            </a:r>
            <a:r>
              <a:rPr lang="en-US" altLang="en-US" sz="2900" dirty="0" err="1"/>
              <a:t>p.progID</a:t>
            </a:r>
            <a:r>
              <a:rPr lang="en-US" altLang="en-US" sz="2900" dirty="0"/>
              <a:t>;</a:t>
            </a:r>
            <a:endParaRPr lang="en-US" altLang="en-US" sz="1400" dirty="0"/>
          </a:p>
          <a:p>
            <a:pPr marL="342900" lvl="1" indent="-342900">
              <a:buClr>
                <a:schemeClr val="folHlink"/>
              </a:buClr>
              <a:buSzPct val="60000"/>
              <a:defRPr/>
            </a:pPr>
            <a:r>
              <a:rPr lang="en-US" altLang="en-US" sz="1000" dirty="0"/>
              <a:t>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F66865D-E15B-E056-65B8-F0B6AC4A494E}"/>
              </a:ext>
            </a:extLst>
          </p:cNvPr>
          <p:cNvGraphicFramePr>
            <a:graphicFrameLocks noGrp="1"/>
          </p:cNvGraphicFramePr>
          <p:nvPr/>
        </p:nvGraphicFramePr>
        <p:xfrm>
          <a:off x="6407934" y="2325556"/>
          <a:ext cx="2743183" cy="1981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690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6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D4920C-8793-5354-F969-37612AE16246}"/>
              </a:ext>
            </a:extLst>
          </p:cNvPr>
          <p:cNvGraphicFramePr>
            <a:graphicFrameLocks noGrp="1"/>
          </p:cNvGraphicFramePr>
          <p:nvPr/>
        </p:nvGraphicFramePr>
        <p:xfrm>
          <a:off x="9257294" y="2348807"/>
          <a:ext cx="2747501" cy="1630361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33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years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Offer By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Curtin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8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SLIIT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8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SHU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645" name="TextBox 7">
            <a:extLst>
              <a:ext uri="{FF2B5EF4-FFF2-40B4-BE49-F238E27FC236}">
                <a16:creationId xmlns:a16="http://schemas.microsoft.com/office/drawing/2014/main" id="{26EC1051-24B8-0268-211E-FB89B7687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3975" y="1916112"/>
            <a:ext cx="1101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Student</a:t>
            </a:r>
          </a:p>
        </p:txBody>
      </p:sp>
      <p:sp>
        <p:nvSpPr>
          <p:cNvPr id="24646" name="TextBox 9">
            <a:extLst>
              <a:ext uri="{FF2B5EF4-FFF2-40B4-BE49-F238E27FC236}">
                <a16:creationId xmlns:a16="http://schemas.microsoft.com/office/drawing/2014/main" id="{1A077338-5939-5A9D-A1D5-89F10D8F0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7294" y="1916112"/>
            <a:ext cx="1181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Program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55462C-74CC-AFC1-DBE2-8FF24507E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451952"/>
              </p:ext>
            </p:extLst>
          </p:nvPr>
        </p:nvGraphicFramePr>
        <p:xfrm>
          <a:off x="8936619" y="4525616"/>
          <a:ext cx="1822450" cy="1981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71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offerBy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Curtin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SLIIT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SHU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SLIIT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497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[INNER] Join with Conditions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597207" y="2041043"/>
            <a:ext cx="5806767" cy="4465773"/>
          </a:xfrm>
        </p:spPr>
        <p:txBody>
          <a:bodyPr>
            <a:normAutofit fontScale="70000" lnSpcReduction="20000"/>
          </a:bodyPr>
          <a:lstStyle/>
          <a:p>
            <a:pPr marL="306000" lvl="1">
              <a:defRPr/>
            </a:pPr>
            <a:r>
              <a:rPr lang="en-US" altLang="en-US" sz="2800" dirty="0"/>
              <a:t>Joins two tables based on a certain condition</a:t>
            </a:r>
          </a:p>
          <a:p>
            <a:pPr marL="306000" lvl="1">
              <a:defRPr/>
            </a:pPr>
            <a:r>
              <a:rPr lang="en-US" altLang="en-US" sz="2800" dirty="0"/>
              <a:t>Ex : Find the names of students who follow programs offered by SLIIT </a:t>
            </a:r>
          </a:p>
          <a:p>
            <a:pPr marL="0" lvl="1" indent="0">
              <a:buNone/>
              <a:defRPr/>
            </a:pPr>
            <a:r>
              <a:rPr lang="en-US" altLang="en-US" dirty="0"/>
              <a:t> </a:t>
            </a:r>
            <a:r>
              <a:rPr lang="en-US" altLang="en-US" sz="2900" dirty="0"/>
              <a:t>	Select </a:t>
            </a:r>
            <a:r>
              <a:rPr lang="en-US" altLang="en-US" sz="2900" dirty="0" err="1"/>
              <a:t>s.Name</a:t>
            </a:r>
            <a:endParaRPr lang="en-US" altLang="en-US" sz="2900" dirty="0"/>
          </a:p>
          <a:p>
            <a:pPr marL="0" lvl="1" indent="0">
              <a:buNone/>
              <a:defRPr/>
            </a:pPr>
            <a:r>
              <a:rPr lang="en-US" altLang="en-US" sz="2900" dirty="0"/>
              <a:t>	From student s, program p</a:t>
            </a:r>
          </a:p>
          <a:p>
            <a:pPr marL="0" lvl="1" indent="0">
              <a:buNone/>
              <a:defRPr/>
            </a:pPr>
            <a:r>
              <a:rPr lang="en-US" altLang="en-US" sz="2900" dirty="0"/>
              <a:t>	where </a:t>
            </a:r>
            <a:r>
              <a:rPr lang="en-US" altLang="en-US" sz="2900" dirty="0" err="1"/>
              <a:t>s.pid</a:t>
            </a:r>
            <a:r>
              <a:rPr lang="en-US" altLang="en-US" sz="2900" dirty="0"/>
              <a:t>=</a:t>
            </a:r>
            <a:r>
              <a:rPr lang="en-US" altLang="en-US" sz="2900" dirty="0" err="1"/>
              <a:t>p.ProgId</a:t>
            </a:r>
            <a:r>
              <a:rPr lang="en-US" altLang="en-US" sz="2900" dirty="0"/>
              <a:t> and </a:t>
            </a:r>
            <a:r>
              <a:rPr lang="en-US" altLang="en-US" sz="2900" dirty="0" err="1"/>
              <a:t>offerBy</a:t>
            </a:r>
            <a:r>
              <a:rPr lang="en-US" altLang="en-US" sz="2900" dirty="0"/>
              <a:t>=‘SLIIT’</a:t>
            </a:r>
          </a:p>
          <a:p>
            <a:pPr marL="0" lvl="1" indent="0">
              <a:buNone/>
              <a:defRPr/>
            </a:pPr>
            <a:r>
              <a:rPr lang="en-US" altLang="en-US" sz="2900" dirty="0"/>
              <a:t>		   Or</a:t>
            </a:r>
          </a:p>
          <a:p>
            <a:pPr marL="0" lvl="1" indent="0">
              <a:buNone/>
              <a:defRPr/>
            </a:pPr>
            <a:r>
              <a:rPr lang="en-US" altLang="en-US" sz="2900" dirty="0"/>
              <a:t>	Select </a:t>
            </a:r>
            <a:r>
              <a:rPr lang="en-US" altLang="en-US" sz="2900" dirty="0" err="1"/>
              <a:t>s.Name</a:t>
            </a:r>
            <a:endParaRPr lang="en-US" altLang="en-US" sz="2900" dirty="0"/>
          </a:p>
          <a:p>
            <a:pPr marL="0" lvl="1" indent="0">
              <a:buNone/>
              <a:defRPr/>
            </a:pPr>
            <a:r>
              <a:rPr lang="en-US" altLang="en-US" sz="2900" dirty="0"/>
              <a:t>	From student s </a:t>
            </a:r>
            <a:r>
              <a:rPr lang="en-US" altLang="en-US" sz="2600" dirty="0"/>
              <a:t>INNER JOIN </a:t>
            </a:r>
            <a:r>
              <a:rPr lang="en-US" altLang="en-US" sz="2900" dirty="0"/>
              <a:t>program p on    </a:t>
            </a:r>
          </a:p>
          <a:p>
            <a:pPr marL="0" lvl="1" indent="0">
              <a:buNone/>
              <a:defRPr/>
            </a:pPr>
            <a:r>
              <a:rPr lang="en-US" altLang="en-US" sz="2900" dirty="0"/>
              <a:t>             </a:t>
            </a:r>
            <a:r>
              <a:rPr lang="en-US" altLang="en-US" sz="2900" dirty="0" err="1"/>
              <a:t>s.pid</a:t>
            </a:r>
            <a:r>
              <a:rPr lang="en-US" altLang="en-US" sz="2900" dirty="0"/>
              <a:t>=</a:t>
            </a:r>
            <a:r>
              <a:rPr lang="en-US" altLang="en-US" sz="2900" dirty="0" err="1"/>
              <a:t>p.progId</a:t>
            </a:r>
            <a:r>
              <a:rPr lang="en-US" altLang="en-US" sz="2900" dirty="0"/>
              <a:t> </a:t>
            </a:r>
          </a:p>
          <a:p>
            <a:pPr marL="0" lvl="1" indent="0">
              <a:buNone/>
              <a:defRPr/>
            </a:pPr>
            <a:r>
              <a:rPr lang="en-US" altLang="en-US" sz="2900" dirty="0"/>
              <a:t>	Where </a:t>
            </a:r>
            <a:r>
              <a:rPr lang="en-US" altLang="en-US" sz="2900" dirty="0" err="1"/>
              <a:t>offerBy</a:t>
            </a:r>
            <a:r>
              <a:rPr lang="en-US" altLang="en-US" sz="2900" dirty="0"/>
              <a:t>=‘SLIIT’</a:t>
            </a:r>
          </a:p>
          <a:p>
            <a:pPr marL="342900" lvl="1" indent="-342900">
              <a:buClr>
                <a:schemeClr val="folHlink"/>
              </a:buClr>
              <a:buSzPct val="60000"/>
              <a:buNone/>
              <a:defRPr/>
            </a:pPr>
            <a:endParaRPr lang="en-US" altLang="en-US" sz="1400" dirty="0"/>
          </a:p>
          <a:p>
            <a:pPr marL="342900" lvl="1" indent="-342900">
              <a:buClr>
                <a:schemeClr val="folHlink"/>
              </a:buClr>
              <a:buSzPct val="60000"/>
              <a:defRPr/>
            </a:pPr>
            <a:r>
              <a:rPr lang="en-US" altLang="en-US" sz="1000" dirty="0"/>
              <a:t>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7934" y="2325556"/>
          <a:ext cx="2743183" cy="1981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690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6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257294" y="2348807"/>
          <a:ext cx="2747501" cy="1630361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33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years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Offer By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Curtin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8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SLIIT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8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SHU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2277" y="4890328"/>
          <a:ext cx="944450" cy="108809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4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56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19" marR="91419" marT="0" marB="0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2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19" marR="91419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2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19" marR="91419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645" name="TextBox 7"/>
          <p:cNvSpPr txBox="1">
            <a:spLocks noChangeArrowheads="1"/>
          </p:cNvSpPr>
          <p:nvPr/>
        </p:nvSpPr>
        <p:spPr bwMode="auto">
          <a:xfrm>
            <a:off x="6403975" y="1916112"/>
            <a:ext cx="1101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Student</a:t>
            </a:r>
          </a:p>
        </p:txBody>
      </p:sp>
      <p:sp>
        <p:nvSpPr>
          <p:cNvPr id="24646" name="TextBox 9"/>
          <p:cNvSpPr txBox="1">
            <a:spLocks noChangeArrowheads="1"/>
          </p:cNvSpPr>
          <p:nvPr/>
        </p:nvSpPr>
        <p:spPr bwMode="auto">
          <a:xfrm>
            <a:off x="9257294" y="1916112"/>
            <a:ext cx="1181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1299396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LEFT OUTER JOIN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483678" y="2743200"/>
            <a:ext cx="5538146" cy="41148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400" dirty="0"/>
              <a:t>Returns all rows from the table on the left-hand side of join, with the matching rows in the table on the right-hand side of the join. </a:t>
            </a:r>
          </a:p>
          <a:p>
            <a:r>
              <a:rPr lang="en-US" altLang="en-US" sz="2400" dirty="0"/>
              <a:t>The result is NULL in the right side when there is no match.</a:t>
            </a:r>
          </a:p>
          <a:p>
            <a:pPr lvl="1"/>
            <a:r>
              <a:rPr lang="en-US" altLang="en-US" sz="2200" dirty="0"/>
              <a:t>Ex : For all the students display the name and the offering institute </a:t>
            </a:r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r>
              <a:rPr lang="en-US" altLang="en-US" dirty="0"/>
              <a:t>      </a:t>
            </a:r>
            <a:r>
              <a:rPr lang="en-US" altLang="en-US" sz="2000" dirty="0"/>
              <a:t>Select </a:t>
            </a:r>
            <a:r>
              <a:rPr lang="en-US" altLang="en-US" sz="2000" dirty="0" err="1"/>
              <a:t>s.Name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p.offerBy</a:t>
            </a:r>
            <a:endParaRPr lang="en-US" altLang="en-US" sz="2000" dirty="0"/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r>
              <a:rPr lang="en-US" altLang="en-US" sz="2000" dirty="0"/>
              <a:t>     From student s LEFT OUTER JOIN program p</a:t>
            </a:r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r>
              <a:rPr lang="en-US" altLang="en-US" sz="2000" dirty="0"/>
              <a:t>				on </a:t>
            </a:r>
            <a:r>
              <a:rPr lang="en-US" altLang="en-US" sz="2000" dirty="0" err="1"/>
              <a:t>s.pid</a:t>
            </a:r>
            <a:r>
              <a:rPr lang="en-US" altLang="en-US" sz="2000" dirty="0"/>
              <a:t>=</a:t>
            </a:r>
            <a:r>
              <a:rPr lang="en-US" altLang="en-US" sz="2000" dirty="0" err="1"/>
              <a:t>p.progId</a:t>
            </a:r>
            <a:r>
              <a:rPr lang="en-US" altLang="en-US" sz="2000" dirty="0"/>
              <a:t> </a:t>
            </a:r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r>
              <a:rPr lang="en-US" altLang="en-US" sz="2000" dirty="0"/>
              <a:t>	</a:t>
            </a:r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endParaRPr lang="en-US" altLang="en-US" sz="2400" dirty="0"/>
          </a:p>
          <a:p>
            <a:pPr marL="342900" lvl="1" indent="-342900">
              <a:buClr>
                <a:schemeClr val="folHlink"/>
              </a:buClr>
              <a:buSzPct val="60000"/>
            </a:pPr>
            <a:endParaRPr lang="en-US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15501" y="4666468"/>
          <a:ext cx="1822450" cy="1981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71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offerBy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Curtin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SLIIT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NULL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SLIIT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ight Arrow 7"/>
          <p:cNvSpPr/>
          <p:nvPr/>
        </p:nvSpPr>
        <p:spPr>
          <a:xfrm>
            <a:off x="6318116" y="5289998"/>
            <a:ext cx="304800" cy="41751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3526" y="2325556"/>
          <a:ext cx="2743183" cy="1981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690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60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257294" y="2348807"/>
          <a:ext cx="2747501" cy="1249467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33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years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Offer By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Curtin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8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SLIIT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7"/>
          <p:cNvSpPr txBox="1">
            <a:spLocks noChangeArrowheads="1"/>
          </p:cNvSpPr>
          <p:nvPr/>
        </p:nvSpPr>
        <p:spPr bwMode="auto">
          <a:xfrm>
            <a:off x="6403975" y="1916112"/>
            <a:ext cx="1101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Student</a:t>
            </a:r>
          </a:p>
        </p:txBody>
      </p:sp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9257294" y="1916112"/>
            <a:ext cx="1181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1667760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RIGHT OUTER JOIN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82705" y="2590800"/>
            <a:ext cx="5257702" cy="4114800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sz="2400" dirty="0"/>
              <a:t>Returns all rows from the table on the right-hand side of join, with the matching rows in the table on the left-hand side of the join. </a:t>
            </a:r>
          </a:p>
          <a:p>
            <a:r>
              <a:rPr lang="en-US" altLang="en-US" sz="2400" dirty="0"/>
              <a:t>The result is NULL in the left side when there is no match.</a:t>
            </a:r>
          </a:p>
          <a:p>
            <a:pPr marL="648000" lvl="3" indent="-306000"/>
            <a:r>
              <a:rPr lang="en-US" altLang="en-US" sz="2200" dirty="0"/>
              <a:t>Ex : For all the programs display the offering institute and names of the students following</a:t>
            </a:r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r>
              <a:rPr lang="en-US" altLang="en-US" sz="1900" dirty="0"/>
              <a:t>      </a:t>
            </a:r>
            <a:r>
              <a:rPr lang="en-US" altLang="en-US" sz="2100" dirty="0"/>
              <a:t>Select </a:t>
            </a:r>
            <a:r>
              <a:rPr lang="en-US" altLang="en-US" sz="2100" dirty="0" err="1"/>
              <a:t>s.Name</a:t>
            </a:r>
            <a:r>
              <a:rPr lang="en-US" altLang="en-US" sz="2100" dirty="0"/>
              <a:t>, </a:t>
            </a:r>
            <a:r>
              <a:rPr lang="en-US" altLang="en-US" sz="2100" dirty="0" err="1"/>
              <a:t>p.offerBy</a:t>
            </a:r>
            <a:endParaRPr lang="en-US" altLang="en-US" sz="2100" dirty="0"/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r>
              <a:rPr lang="en-US" altLang="en-US" sz="2100" dirty="0"/>
              <a:t>	From student s RIGHT OUTER JOIN program p on </a:t>
            </a:r>
            <a:r>
              <a:rPr lang="en-US" altLang="en-US" sz="2100" dirty="0" err="1"/>
              <a:t>s.pid</a:t>
            </a:r>
            <a:r>
              <a:rPr lang="en-US" altLang="en-US" sz="2100" dirty="0"/>
              <a:t>=</a:t>
            </a:r>
            <a:r>
              <a:rPr lang="en-US" altLang="en-US" sz="2100" dirty="0" err="1"/>
              <a:t>p.progId</a:t>
            </a:r>
            <a:r>
              <a:rPr lang="en-US" altLang="en-US" sz="2100" dirty="0"/>
              <a:t> </a:t>
            </a:r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r>
              <a:rPr lang="en-US" altLang="en-US" sz="2000" dirty="0"/>
              <a:t>	</a:t>
            </a:r>
          </a:p>
          <a:p>
            <a:pPr marL="342900" lvl="1" indent="-342900">
              <a:buClr>
                <a:schemeClr val="folHlink"/>
              </a:buClr>
              <a:buSzPct val="60000"/>
              <a:buNone/>
            </a:pPr>
            <a:endParaRPr lang="en-US" altLang="en-US" sz="2400" dirty="0"/>
          </a:p>
          <a:p>
            <a:pPr marL="342900" lvl="1" indent="-342900">
              <a:buClr>
                <a:schemeClr val="folHlink"/>
              </a:buClr>
              <a:buSzPct val="60000"/>
            </a:pPr>
            <a:endParaRPr lang="en-US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64550" y="4724400"/>
          <a:ext cx="1822450" cy="19812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71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offerBy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Curtin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SLIIT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SLIIT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NULL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SHU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31" marR="91431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ight Arrow 3"/>
          <p:cNvSpPr/>
          <p:nvPr/>
        </p:nvSpPr>
        <p:spPr>
          <a:xfrm>
            <a:off x="7786688" y="5715000"/>
            <a:ext cx="381000" cy="457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66228" y="2325556"/>
          <a:ext cx="3200481" cy="208788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06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7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8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gpa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71" marR="91471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1000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Amal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1001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Nimali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1002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Aruni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3.8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6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endParaRPr kumimoji="0" lang="en-US" altLang="en-US" sz="1600" u="none" strike="noStrike" kern="1200" cap="none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Surani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2.5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71" marR="91471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257294" y="2348807"/>
          <a:ext cx="2747501" cy="1630361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33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progId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years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Offer By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85" marR="91485" marT="0" marB="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8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BM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Curtin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8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SLIIT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8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SHU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1485" marR="91485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6403975" y="1916112"/>
            <a:ext cx="1101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Student</a:t>
            </a:r>
          </a:p>
        </p:txBody>
      </p:sp>
      <p:sp>
        <p:nvSpPr>
          <p:cNvPr id="12" name="TextBox 9"/>
          <p:cNvSpPr txBox="1">
            <a:spLocks noChangeArrowheads="1"/>
          </p:cNvSpPr>
          <p:nvPr/>
        </p:nvSpPr>
        <p:spPr bwMode="auto">
          <a:xfrm>
            <a:off x="9257294" y="1916112"/>
            <a:ext cx="1181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3819602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you have to do by next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Try out the self-test questions on the </a:t>
            </a:r>
            <a:r>
              <a:rPr lang="en-US" sz="2400" dirty="0" err="1"/>
              <a:t>courseweb</a:t>
            </a:r>
            <a:r>
              <a:rPr lang="en-US" sz="2400" dirty="0"/>
              <a:t>.</a:t>
            </a:r>
          </a:p>
          <a:p>
            <a:r>
              <a:rPr lang="en-US" sz="2400" dirty="0"/>
              <a:t>Complete the tutorial.</a:t>
            </a:r>
          </a:p>
        </p:txBody>
      </p:sp>
    </p:spTree>
    <p:extLst>
      <p:ext uri="{BB962C8B-B14F-4D97-AF65-F5344CB8AC3E}">
        <p14:creationId xmlns:p14="http://schemas.microsoft.com/office/powerpoint/2010/main" val="79157869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3058</TotalTime>
  <Words>612</Words>
  <Application>Microsoft Office PowerPoint</Application>
  <PresentationFormat>Widescreen</PresentationFormat>
  <Paragraphs>217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Gill Sans MT</vt:lpstr>
      <vt:lpstr>Wingdings 2</vt:lpstr>
      <vt:lpstr>Dividend</vt:lpstr>
      <vt:lpstr>Database Design and Development (it2140)</vt:lpstr>
      <vt:lpstr>Lecture content</vt:lpstr>
      <vt:lpstr>Lecture content</vt:lpstr>
      <vt:lpstr>[Inner] Join</vt:lpstr>
      <vt:lpstr>[INNER] Join with Conditions</vt:lpstr>
      <vt:lpstr>LEFT OUTER JOIN</vt:lpstr>
      <vt:lpstr>RIGHT OUTER JOIN</vt:lpstr>
      <vt:lpstr>What you have to do by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(it 2040)</dc:title>
  <dc:creator>Anuradha Karunnasena</dc:creator>
  <cp:lastModifiedBy>Sanji Chandrasiri</cp:lastModifiedBy>
  <cp:revision>170</cp:revision>
  <dcterms:created xsi:type="dcterms:W3CDTF">2017-12-01T06:14:40Z</dcterms:created>
  <dcterms:modified xsi:type="dcterms:W3CDTF">2025-07-30T10:44:12Z</dcterms:modified>
</cp:coreProperties>
</file>